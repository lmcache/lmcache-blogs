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429" autoAdjust="0"/>
  </p:normalViewPr>
  <p:slideViewPr>
    <p:cSldViewPr snapToGrid="0" snapToObjects="1">
      <p:cViewPr varScale="1">
        <p:scale>
          <a:sx n="50" d="100"/>
          <a:sy n="50" d="100"/>
        </p:scale>
        <p:origin x="19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39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300">
                <a:solidFill>
                  <a:srgbClr val="FFB340"/>
                </a:solidFill>
                <a:latin typeface="Arial"/>
              </a:rPr>
              <a:t>DEPLOYMENT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781175"/>
            <a:ext cx="14287500" cy="1120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0" b="1">
                <a:solidFill>
                  <a:srgbClr val="F5F5F7"/>
                </a:solidFill>
                <a:latin typeface="Arial"/>
              </a:rPr>
              <a:t>LMCache on CXL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3168015"/>
            <a:ext cx="1333500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>
                <a:solidFill>
                  <a:srgbClr val="A1A1A6"/>
                </a:solidFill>
                <a:latin typeface="Arial"/>
              </a:rPr>
              <a:t>How the KV cache is placed in CXL memory, grown while serving, and shared between two servers. Shown step by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9200" y="8001000"/>
            <a:ext cx="1777365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14300" rIns="228600" bIns="114300" rtlCol="0" anchor="ctr"/>
          <a:lstStyle/>
          <a:p>
            <a:pPr algn="l">
              <a:lnSpc>
                <a:spcPct val="140000"/>
              </a:lnSpc>
            </a:pPr>
            <a:r>
              <a:rPr sz="1650" b="1">
                <a:solidFill>
                  <a:srgbClr val="F5F5F7"/>
                </a:solidFill>
                <a:latin typeface="Arial"/>
              </a:rPr>
              <a:t>The basics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48965" y="8001000"/>
            <a:ext cx="3625596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14300" rIns="228600" bIns="114300" rtlCol="0" anchor="ctr"/>
          <a:lstStyle/>
          <a:p>
            <a:pPr algn="l">
              <a:lnSpc>
                <a:spcPct val="140000"/>
              </a:lnSpc>
            </a:pPr>
            <a:r>
              <a:rPr sz="1650" b="1">
                <a:solidFill>
                  <a:srgbClr val="F5F5F7"/>
                </a:solidFill>
                <a:latin typeface="Arial"/>
              </a:rPr>
              <a:t>Deployment, step by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26961" y="8001000"/>
            <a:ext cx="3097530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14300" rIns="228600" bIns="114300" rtlCol="0" anchor="ctr"/>
          <a:lstStyle/>
          <a:p>
            <a:pPr algn="l">
              <a:lnSpc>
                <a:spcPct val="140000"/>
              </a:lnSpc>
            </a:pPr>
            <a:r>
              <a:rPr sz="1650" b="1">
                <a:solidFill>
                  <a:srgbClr val="F5F5F7"/>
                </a:solidFill>
                <a:latin typeface="Arial"/>
              </a:rPr>
              <a:t>Measured on this rig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76891" y="8001000"/>
            <a:ext cx="2041398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14300" rIns="228600" bIns="114300" rtlCol="0" anchor="ctr"/>
          <a:lstStyle/>
          <a:p>
            <a:pPr algn="l">
              <a:lnSpc>
                <a:spcPct val="140000"/>
              </a:lnSpc>
            </a:pPr>
            <a:r>
              <a:rPr sz="1650" b="1">
                <a:solidFill>
                  <a:srgbClr val="F5F5F7"/>
                </a:solidFill>
                <a:latin typeface="Arial"/>
              </a:rPr>
              <a:t>Operating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70689" y="8001000"/>
            <a:ext cx="1513332" cy="5334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14300" rIns="228600" bIns="114300" rtlCol="0" anchor="ctr"/>
          <a:lstStyle/>
          <a:p>
            <a:pPr algn="l">
              <a:lnSpc>
                <a:spcPct val="140000"/>
              </a:lnSpc>
            </a:pPr>
            <a:r>
              <a:rPr sz="1650" b="1">
                <a:solidFill>
                  <a:srgbClr val="F5F5F7"/>
                </a:solidFill>
                <a:latin typeface="Arial"/>
              </a:rPr>
              <a:t>Upstream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9382125"/>
            <a:ext cx="11430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6868B"/>
                </a:solidFill>
                <a:latin typeface="Arial"/>
              </a:rPr>
              <a:t>LMCache multiprocess mode · dev branch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2687955"/>
            <a:ext cx="5130800" cy="2799398"/>
          </a:xfrm>
          <a:prstGeom prst="roundRect">
            <a:avLst>
              <a:gd name="adj" fmla="val 5444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62100" y="2992755"/>
            <a:ext cx="419100" cy="419100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2100" y="3545205"/>
            <a:ext cx="44450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The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4105275"/>
            <a:ext cx="4445000" cy="1077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Why KV reuse matters. CXL memory, Device-DAX, MP mode, and the L1 and L2 tiers.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8600" y="2687955"/>
            <a:ext cx="5130800" cy="2799398"/>
          </a:xfrm>
          <a:prstGeom prst="roundRect">
            <a:avLst>
              <a:gd name="adj" fmla="val 5444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Gear 6 8"/>
          <p:cNvSpPr/>
          <p:nvPr/>
        </p:nvSpPr>
        <p:spPr>
          <a:xfrm>
            <a:off x="6921500" y="2992755"/>
            <a:ext cx="419100" cy="419100"/>
          </a:xfrm>
          <a:prstGeom prst="gear6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21500" y="3545205"/>
            <a:ext cx="44450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Deployment, step by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1500" y="4105275"/>
            <a:ext cx="4445000" cy="1077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One server, the Device-DAX L1, hot-plug, the DAX L2, then two servers on one shared L1.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38000" y="2687955"/>
            <a:ext cx="5130800" cy="2799398"/>
          </a:xfrm>
          <a:prstGeom prst="roundRect">
            <a:avLst>
              <a:gd name="adj" fmla="val 5444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280900" y="2992755"/>
            <a:ext cx="419100" cy="419100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80900" y="3545205"/>
            <a:ext cx="44450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Measured on this rig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0900" y="4105275"/>
            <a:ext cx="4445000" cy="1077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TTFT by cache setup, CXL against the local SSD, bandwidth over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9200" y="5715952"/>
            <a:ext cx="5130800" cy="3158490"/>
          </a:xfrm>
          <a:prstGeom prst="roundRect">
            <a:avLst>
              <a:gd name="adj" fmla="val 4825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62100" y="6020752"/>
            <a:ext cx="419100" cy="419100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62100" y="6573202"/>
            <a:ext cx="44450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Operating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2100" y="7133272"/>
            <a:ext cx="4445000" cy="1077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Failure handling, NUMA placement, /status and /metrics, common errors.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8600" y="5715952"/>
            <a:ext cx="5130800" cy="3158490"/>
          </a:xfrm>
          <a:prstGeom prst="roundRect">
            <a:avLst>
              <a:gd name="adj" fmla="val 4825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21500" y="6020752"/>
            <a:ext cx="419100" cy="419100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21500" y="6573202"/>
            <a:ext cx="44450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Upstream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1500" y="7133272"/>
            <a:ext cx="44450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What has been merged, what is open, where the numbers come from.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938000" y="5715952"/>
            <a:ext cx="5130800" cy="3158490"/>
          </a:xfrm>
          <a:prstGeom prst="roundRect">
            <a:avLst>
              <a:gd name="adj" fmla="val 4825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280900" y="6020752"/>
            <a:ext cx="419100" cy="419100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280900" y="6573202"/>
            <a:ext cx="44450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No typing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80900" y="7133272"/>
            <a:ext cx="4445000" cy="143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Every step is shown as an animation. Scripts and raw results are in the materials folder for later.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9179242"/>
            <a:ext cx="1584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Builds are advanced with the arrow key. Each deployment slide adds one element at a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The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764155"/>
            <a:ext cx="158496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A1A1A6"/>
                </a:solidFill>
                <a:latin typeface="Arial"/>
              </a:rPr>
              <a:t>Memory on a link, the Linux door, and the two processes that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One document, two questions</a:t>
            </a:r>
          </a:p>
        </p:txBody>
      </p:sp>
      <p:pic>
        <p:nvPicPr>
          <p:cNvPr id="4" name="Picture 3" descr="fig_re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071397"/>
            <a:ext cx="15849600" cy="39670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19200" y="7726680"/>
            <a:ext cx="5130800" cy="123444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n 5"/>
          <p:cNvSpPr/>
          <p:nvPr/>
        </p:nvSpPr>
        <p:spPr>
          <a:xfrm>
            <a:off x="1485900" y="8172450"/>
            <a:ext cx="342900" cy="342900"/>
          </a:xfrm>
          <a:prstGeom prst="can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1200" y="7898130"/>
            <a:ext cx="4102100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KV cache: what is kept in memory by the model about text it has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8600" y="7726680"/>
            <a:ext cx="5130800" cy="123444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45300" y="8172450"/>
            <a:ext cx="342900" cy="342900"/>
          </a:xfrm>
          <a:prstGeom prst="ellipse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40600" y="8046720"/>
            <a:ext cx="41021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TTFT: time to first token. For long text, mostly prefill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938000" y="7726680"/>
            <a:ext cx="5130800" cy="123444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204700" y="8172450"/>
            <a:ext cx="342900" cy="342900"/>
          </a:xfrm>
          <a:prstGeom prst="ellipse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00000" y="7898130"/>
            <a:ext cx="4102100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Today’s question: is time saved when the cached KV is retrieved instead of prefilled again?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Why the cache is outgrown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2687955"/>
            <a:ext cx="15849600" cy="1097280"/>
          </a:xfrm>
          <a:prstGeom prst="roundRect">
            <a:avLst>
              <a:gd name="adj" fmla="val 13888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62100" y="3063240"/>
            <a:ext cx="8869680" cy="3467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FFB340"/>
                </a:solidFill>
                <a:latin typeface="Courier New"/>
              </a:rPr>
              <a:t>bytes/token = 2 × layers × kv_heads × head_dim × dtype_bytes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2780" y="2916555"/>
            <a:ext cx="591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Bigger model, longer text, more users: more bytes.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200" y="4090035"/>
            <a:ext cx="4775200" cy="1163955"/>
          </a:xfrm>
          <a:prstGeom prst="roundRect">
            <a:avLst>
              <a:gd name="adj" fmla="val 981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  <a:p>
            <a:pPr algn="ctr">
              <a:lnSpc>
                <a:spcPct val="135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the busy work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6800" y="4538662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56400" y="4090035"/>
            <a:ext cx="4775200" cy="1163955"/>
          </a:xfrm>
          <a:prstGeom prst="roundRect">
            <a:avLst>
              <a:gd name="adj" fmla="val 981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DRAM</a:t>
            </a:r>
          </a:p>
          <a:p>
            <a:pPr algn="ctr">
              <a:lnSpc>
                <a:spcPct val="135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recent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1684000" y="4538662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293600" y="4090035"/>
            <a:ext cx="4775200" cy="1163955"/>
          </a:xfrm>
          <a:prstGeom prst="roundRect">
            <a:avLst>
              <a:gd name="adj" fmla="val 981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disk or network</a:t>
            </a:r>
          </a:p>
          <a:p>
            <a:pPr algn="ctr">
              <a:lnSpc>
                <a:spcPct val="135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everything 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0" y="5558790"/>
            <a:ext cx="15849600" cy="1203960"/>
          </a:xfrm>
          <a:prstGeom prst="roundRect">
            <a:avLst>
              <a:gd name="adj" fmla="val 12658"/>
            </a:avLst>
          </a:prstGeom>
          <a:solidFill>
            <a:srgbClr val="0B2A4A"/>
          </a:solidFill>
          <a:ln w="19050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2100" y="5787390"/>
            <a:ext cx="15163800" cy="746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F5F5F7"/>
                </a:solidFill>
                <a:latin typeface="Arial"/>
              </a:rPr>
              <a:t>With </a:t>
            </a:r>
            <a:r>
              <a:rPr sz="2100" b="1">
                <a:solidFill>
                  <a:srgbClr val="F5F5F7"/>
                </a:solidFill>
                <a:latin typeface="Arial"/>
              </a:rPr>
              <a:t>CXL</a:t>
            </a:r>
            <a:r>
              <a:rPr sz="2100" b="0">
                <a:solidFill>
                  <a:srgbClr val="F5F5F7"/>
                </a:solidFill>
                <a:latin typeface="Arial"/>
              </a:rPr>
              <a:t>, more memory is added than the DRAM slots allow. It is used like memory, not like a disk. It can be shared by two servers.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7067550"/>
            <a:ext cx="15849600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Today: a Device-DAX L1, then a DAX L2, then a shared L1, built step by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DRAM, CXL and the local SSD</a:t>
            </a:r>
          </a:p>
        </p:txBody>
      </p:sp>
      <p:pic>
        <p:nvPicPr>
          <p:cNvPr id="4" name="Picture 3" descr="chart_cpu_b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841252"/>
            <a:ext cx="9620250" cy="4684507"/>
          </a:xfrm>
          <a:prstGeom prst="rect">
            <a:avLst/>
          </a:prstGeom>
        </p:spPr>
      </p:pic>
      <p:pic>
        <p:nvPicPr>
          <p:cNvPr id="5" name="Picture 4" descr="chart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0" y="2685585"/>
            <a:ext cx="5715000" cy="4424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8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dirty="0">
                <a:solidFill>
                  <a:srgbClr val="F5F5F7"/>
                </a:solidFill>
                <a:latin typeface="Arial"/>
              </a:rPr>
              <a:t>Four things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498362"/>
              </p:ext>
            </p:extLst>
          </p:nvPr>
        </p:nvGraphicFramePr>
        <p:xfrm>
          <a:off x="1219200" y="2764155"/>
          <a:ext cx="15849600" cy="31203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20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8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1">
                          <a:solidFill>
                            <a:srgbClr val="F5F5F7"/>
                          </a:solidFill>
                          <a:latin typeface="Arial"/>
                        </a:rPr>
                        <a:t>Word</a:t>
                      </a:r>
                    </a:p>
                  </a:txBody>
                  <a:tcPr marL="160020" marR="160020" marT="93345" marB="93345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1">
                          <a:solidFill>
                            <a:srgbClr val="F5F5F7"/>
                          </a:solidFill>
                          <a:latin typeface="Arial"/>
                        </a:rPr>
                        <a:t>What is meant here</a:t>
                      </a:r>
                    </a:p>
                  </a:txBody>
                  <a:tcPr marL="160020" marR="160020" marT="93345" marB="93345"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1" dirty="0">
                          <a:solidFill>
                            <a:srgbClr val="F5F5F7"/>
                          </a:solidFill>
                          <a:latin typeface="Arial"/>
                        </a:rPr>
                        <a:t>CXL</a:t>
                      </a:r>
                      <a:r>
                        <a:rPr lang="en-US" sz="2100" b="1" dirty="0">
                          <a:solidFill>
                            <a:srgbClr val="F5F5F7"/>
                          </a:solidFill>
                          <a:latin typeface="Arial"/>
                        </a:rPr>
                        <a:t>(protocol)</a:t>
                      </a:r>
                      <a:r>
                        <a:rPr sz="2100" b="1" dirty="0">
                          <a:solidFill>
                            <a:srgbClr val="F5F5F7"/>
                          </a:solidFill>
                          <a:latin typeface="Arial"/>
                        </a:rPr>
                        <a:t> memory</a:t>
                      </a:r>
                    </a:p>
                  </a:txBody>
                  <a:tcPr marL="160020" marR="160020" marT="93345" marB="93345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0">
                          <a:solidFill>
                            <a:srgbClr val="F5F5F7"/>
                          </a:solidFill>
                          <a:latin typeface="Arial"/>
                        </a:rPr>
                        <a:t>Extra memory that is connected over a CXL link instead of a DRAM slot.</a:t>
                      </a:r>
                    </a:p>
                  </a:txBody>
                  <a:tcPr marL="160020" marR="160020" marT="93345" marB="93345"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1">
                          <a:solidFill>
                            <a:srgbClr val="F5F5F7"/>
                          </a:solidFill>
                          <a:latin typeface="Arial"/>
                        </a:rPr>
                        <a:t>Device-DAX, devdax</a:t>
                      </a:r>
                    </a:p>
                  </a:txBody>
                  <a:tcPr marL="160020" marR="160020" marT="93345" marB="93345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0">
                          <a:solidFill>
                            <a:srgbClr val="F5F5F7"/>
                          </a:solidFill>
                          <a:latin typeface="Arial"/>
                        </a:rPr>
                        <a:t>A Linux device file. That memory can be taken by one process and used directly.</a:t>
                      </a:r>
                    </a:p>
                  </a:txBody>
                  <a:tcPr marL="160020" marR="160020" marT="93345" marB="93345">
                    <a:solidFill>
                      <a:srgbClr val="141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1">
                          <a:solidFill>
                            <a:srgbClr val="F5F5F7"/>
                          </a:solidFill>
                          <a:latin typeface="Arial"/>
                        </a:rPr>
                        <a:t>MP mode</a:t>
                      </a:r>
                    </a:p>
                  </a:txBody>
                  <a:tcPr marL="160020" marR="160020" marT="93345" marB="93345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0">
                          <a:solidFill>
                            <a:srgbClr val="F5F5F7"/>
                          </a:solidFill>
                          <a:latin typeface="Arial"/>
                        </a:rPr>
                        <a:t>LMCache is run as its own process, next to the inference engine. Even on one server.</a:t>
                      </a:r>
                    </a:p>
                  </a:txBody>
                  <a:tcPr marL="160020" marR="160020" marT="93345" marB="93345"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1">
                          <a:solidFill>
                            <a:srgbClr val="F5F5F7"/>
                          </a:solidFill>
                          <a:latin typeface="Arial"/>
                        </a:rPr>
                        <a:t>L1 and L2</a:t>
                      </a:r>
                    </a:p>
                  </a:txBody>
                  <a:tcPr marL="160020" marR="160020" marT="93345" marB="93345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2100" b="0" dirty="0" err="1">
                          <a:solidFill>
                            <a:srgbClr val="F5F5F7"/>
                          </a:solidFill>
                          <a:latin typeface="Arial"/>
                        </a:rPr>
                        <a:t>LMCache’s</a:t>
                      </a:r>
                      <a:r>
                        <a:rPr sz="2100" b="0" dirty="0">
                          <a:solidFill>
                            <a:srgbClr val="F5F5F7"/>
                          </a:solidFill>
                          <a:latin typeface="Arial"/>
                        </a:rPr>
                        <a:t> tiers. The GPU is served by an L1 tier. An L2 adapter is the bigger store behind it.</a:t>
                      </a:r>
                    </a:p>
                  </a:txBody>
                  <a:tcPr marL="160020" marR="160020" marT="93345" marB="93345">
                    <a:solidFill>
                      <a:srgbClr val="141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6265545"/>
            <a:ext cx="15849600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Next: the link, the Linux door, the two processes, then the tiers.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Memory on a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2857500"/>
            <a:ext cx="7315200" cy="4476750"/>
          </a:xfrm>
          <a:prstGeom prst="roundRect">
            <a:avLst>
              <a:gd name="adj" fmla="val 3404"/>
            </a:avLst>
          </a:prstGeom>
          <a:solidFill>
            <a:srgbClr val="141416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2971800"/>
            <a:ext cx="2857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6400" y="333375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66900" y="3486150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DRAM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900" y="3840480"/>
            <a:ext cx="2476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1 TiB on this 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6400" y="495300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66900" y="5105400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5459730"/>
            <a:ext cx="2476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socket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0" y="495300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24500" y="5105400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0" y="5459730"/>
            <a:ext cx="2476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where the link begins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5000" y="495300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15500" y="5105400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0" y="5459730"/>
            <a:ext cx="2476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shared by servers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63600" y="4953000"/>
            <a:ext cx="35052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54100" y="5105400"/>
            <a:ext cx="31242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memory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54100" y="5459730"/>
            <a:ext cx="3124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5 TiB of DRAM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5000" y="3333750"/>
            <a:ext cx="28575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15500" y="3486150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Server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0" y="3840480"/>
            <a:ext cx="2476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same 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0" y="3333750"/>
            <a:ext cx="3619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Fixed at boot. Belongs to this socket.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6400" y="6191250"/>
            <a:ext cx="2857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Reads and writes are sent to both.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191250"/>
            <a:ext cx="2857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Same reads and writes, over the link.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6191250"/>
            <a:ext cx="2857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One device. Many servers.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63600" y="6191250"/>
            <a:ext cx="350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Big. Used like memory. Slower than DRAM.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6150" y="4438650"/>
            <a:ext cx="3619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same memory is seen.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05150" y="4381500"/>
            <a:ext cx="0" cy="571500"/>
          </a:xfrm>
          <a:prstGeom prst="line">
            <a:avLst/>
          </a:prstGeom>
          <a:ln w="28575">
            <a:solidFill>
              <a:srgbClr val="F5F5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33900" y="5476875"/>
            <a:ext cx="8001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1500" y="5476875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382500" y="5476875"/>
            <a:ext cx="11811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953750" y="4381500"/>
            <a:ext cx="0" cy="571500"/>
          </a:xfrm>
          <a:prstGeom prst="line">
            <a:avLst/>
          </a:prstGeom>
          <a:ln w="28575">
            <a:solidFill>
              <a:srgbClr val="F5F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19200" y="7524750"/>
            <a:ext cx="15849600" cy="952500"/>
          </a:xfrm>
          <a:prstGeom prst="roundRect">
            <a:avLst>
              <a:gd name="adj" fmla="val 16000"/>
            </a:avLst>
          </a:prstGeom>
          <a:solidFill>
            <a:srgbClr val="0B2A4A"/>
          </a:solidFill>
          <a:ln w="19050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24000" y="7827645"/>
            <a:ext cx="15240000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By the CPU it is seen as just more memory. The question is by whom it may be used.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8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400" b="1" dirty="0">
                <a:solidFill>
                  <a:srgbClr val="F5F5F7"/>
                </a:solidFill>
                <a:latin typeface="Arial"/>
              </a:rPr>
              <a:t>Two ways in CXL </a:t>
            </a:r>
            <a:r>
              <a:rPr sz="5400" b="1" dirty="0">
                <a:solidFill>
                  <a:srgbClr val="F5F5F7"/>
                </a:solidFill>
                <a:latin typeface="Arial"/>
              </a:rPr>
              <a:t>memory.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4953000"/>
            <a:ext cx="35052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09700" y="5105400"/>
            <a:ext cx="31242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memory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5459730"/>
            <a:ext cx="3124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one block of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3333750"/>
            <a:ext cx="4381500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A1A1A6"/>
                </a:solidFill>
                <a:latin typeface="Arial"/>
              </a:rPr>
              <a:t>Door 1 · system-ram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3143250"/>
            <a:ext cx="34290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6500" y="3295650"/>
            <a:ext cx="3048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system-ram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649980"/>
            <a:ext cx="304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taken in by Linux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39500" y="3143250"/>
            <a:ext cx="34290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0" y="3295650"/>
            <a:ext cx="3048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NUMA node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3649980"/>
            <a:ext cx="304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memory for everyone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6858000"/>
            <a:ext cx="4381500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FF9F0A"/>
                </a:solidFill>
                <a:latin typeface="Arial"/>
              </a:rPr>
              <a:t>Door 2 · devdax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6667500"/>
            <a:ext cx="34290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6500" y="6819900"/>
            <a:ext cx="3048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devdax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7174230"/>
            <a:ext cx="304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/dev/dax0.0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39500" y="6667500"/>
            <a:ext cx="3429000" cy="104775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0" y="6819900"/>
            <a:ext cx="3048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mmap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7174230"/>
            <a:ext cx="304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mapped by LMCache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43434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This memory is handed out by Linux like any other. The exact bytes cannot be picked.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786765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memory is given only to the program that opens the device. It is connected by Linux, which then steps aside.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24400" y="5476875"/>
            <a:ext cx="609600" cy="0"/>
          </a:xfrm>
          <a:prstGeom prst="line">
            <a:avLst/>
          </a:prstGeom>
          <a:ln w="28575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334000" y="3667125"/>
            <a:ext cx="0" cy="1809750"/>
          </a:xfrm>
          <a:prstGeom prst="line">
            <a:avLst/>
          </a:prstGeom>
          <a:ln w="28575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3667125"/>
            <a:ext cx="762000" cy="0"/>
          </a:xfrm>
          <a:prstGeom prst="line">
            <a:avLst/>
          </a:prstGeom>
          <a:ln w="28575">
            <a:solidFill>
              <a:srgbClr val="F5F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25000" y="3667125"/>
            <a:ext cx="1714500" cy="0"/>
          </a:xfrm>
          <a:prstGeom prst="line">
            <a:avLst/>
          </a:prstGeom>
          <a:ln w="28575">
            <a:solidFill>
              <a:srgbClr val="F5F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34000" y="5476875"/>
            <a:ext cx="0" cy="1714500"/>
          </a:xfrm>
          <a:prstGeom prst="line">
            <a:avLst/>
          </a:prstGeom>
          <a:ln w="28575">
            <a:solidFill>
              <a:srgbClr val="FF9F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34000" y="7191375"/>
            <a:ext cx="7620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25000" y="7191375"/>
            <a:ext cx="1714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239500" y="5105400"/>
            <a:ext cx="5829300" cy="952500"/>
          </a:xfrm>
          <a:prstGeom prst="roundRect">
            <a:avLst>
              <a:gd name="adj" fmla="val 1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506200" y="5395912"/>
            <a:ext cx="52959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FFB340"/>
                </a:solidFill>
                <a:latin typeface="Arial"/>
              </a:rPr>
              <a:t>Door 2 is taken by LMCache.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Why devdax was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611755"/>
            <a:ext cx="7772400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A1A1A6"/>
                </a:solidFill>
                <a:latin typeface="Arial"/>
              </a:rPr>
              <a:t>system-ram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0" y="2611755"/>
            <a:ext cx="7772400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FF9F0A"/>
                </a:solidFill>
                <a:latin typeface="Arial"/>
              </a:rPr>
              <a:t>devdax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3187065"/>
            <a:ext cx="7829550" cy="1150620"/>
          </a:xfrm>
          <a:prstGeom prst="roundRect">
            <a:avLst>
              <a:gd name="adj" fmla="val 9933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85900" y="337756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By whom the bytes are picked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3827145"/>
            <a:ext cx="729615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By Linux. The memory node can be picked, not the bytes.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9250" y="3187065"/>
            <a:ext cx="7829550" cy="1150620"/>
          </a:xfrm>
          <a:prstGeom prst="roundRect">
            <a:avLst>
              <a:gd name="adj" fmla="val 9933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5950" y="337756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By whom the bytes are picked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5950" y="3827145"/>
            <a:ext cx="729615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By the LMCache server. This device, this offset.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0" y="4528185"/>
            <a:ext cx="7829550" cy="1150620"/>
          </a:xfrm>
          <a:prstGeom prst="roundRect">
            <a:avLst>
              <a:gd name="adj" fmla="val 9933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5900" y="471868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By whom else it can be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" y="5168265"/>
            <a:ext cx="729615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By everyone. That is what system-ram is for.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9250" y="4528185"/>
            <a:ext cx="7829550" cy="1150620"/>
          </a:xfrm>
          <a:prstGeom prst="roundRect">
            <a:avLst>
              <a:gd name="adj" fmla="val 9933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5950" y="471868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By whom else it can be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5950" y="5168265"/>
            <a:ext cx="729615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Only by the process that opens the 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9200" y="5869305"/>
            <a:ext cx="7829550" cy="1470660"/>
          </a:xfrm>
          <a:prstGeom prst="roundRect">
            <a:avLst>
              <a:gd name="adj" fmla="val 7772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85900" y="605980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Page size and lifetime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6509385"/>
            <a:ext cx="72961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Small pages, unless they are merged by Linux. With pinned pages the node is locked 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9250" y="5869305"/>
            <a:ext cx="7829550" cy="1470660"/>
          </a:xfrm>
          <a:prstGeom prst="roundRect">
            <a:avLst>
              <a:gd name="adj" fmla="val 7772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5950" y="605980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Page size and lifetime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5950" y="6509385"/>
            <a:ext cx="72961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Big pages, pinned once. Memory can be added or removed while running.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200" y="7530465"/>
            <a:ext cx="7829550" cy="1470660"/>
          </a:xfrm>
          <a:prstGeom prst="roundRect">
            <a:avLst>
              <a:gd name="adj" fmla="val 7772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85900" y="772096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Two servers, one switch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8170545"/>
            <a:ext cx="72961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same memory is believed free by two Linux kernels. Data is corrupted.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9250" y="7530465"/>
            <a:ext cx="7829550" cy="1470660"/>
          </a:xfrm>
          <a:prstGeom prst="roundRect">
            <a:avLst>
              <a:gd name="adj" fmla="val 7772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5950" y="7720965"/>
            <a:ext cx="729615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F5F5F7"/>
                </a:solidFill>
                <a:latin typeface="Arial"/>
              </a:rPr>
              <a:t>Two servers, one switch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8170545"/>
            <a:ext cx="729615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same offset is the same bytes on both servers.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8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dirty="0">
                <a:solidFill>
                  <a:srgbClr val="F5F5F7"/>
                </a:solidFill>
                <a:latin typeface="Arial"/>
              </a:rPr>
              <a:t>MP mode: two processes</a:t>
            </a:r>
          </a:p>
        </p:txBody>
      </p:sp>
      <p:pic>
        <p:nvPicPr>
          <p:cNvPr id="4" name="Picture 3" descr="fig_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293" y="2649855"/>
            <a:ext cx="15795413" cy="50482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19200" y="7964805"/>
            <a:ext cx="51308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85900" y="8261985"/>
            <a:ext cx="342900" cy="342900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85" b="1">
                <a:solidFill>
                  <a:srgbClr val="F5F5F7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8136255"/>
            <a:ext cx="41021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The inference engine is kept simple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8600" y="7964805"/>
            <a:ext cx="51308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45300" y="8261985"/>
            <a:ext cx="342900" cy="342900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85" b="1">
                <a:solidFill>
                  <a:srgbClr val="F5F5F7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0600" y="8136255"/>
            <a:ext cx="41021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The cache is kept alive if the engine is restarted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938000" y="7964805"/>
            <a:ext cx="51308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204700" y="8261985"/>
            <a:ext cx="342900" cy="342900"/>
          </a:xfrm>
          <a:prstGeom prst="ellipse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00000" y="8136255"/>
            <a:ext cx="41021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A second server? Not until step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Same hardware, three jobs</a:t>
            </a:r>
          </a:p>
        </p:txBody>
      </p:sp>
      <p:pic>
        <p:nvPicPr>
          <p:cNvPr id="4" name="Picture 3" descr="fig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941" y="2611755"/>
            <a:ext cx="14284118" cy="571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8555355"/>
            <a:ext cx="1584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These three are built in the deployment chapter, in that order: steps 2, 6 and 7. The flags are shown on the next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Three ways it can be set 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89164"/>
              </p:ext>
            </p:extLst>
          </p:nvPr>
        </p:nvGraphicFramePr>
        <p:xfrm>
          <a:off x="1219200" y="2764155"/>
          <a:ext cx="15849600" cy="326771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5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5F5F7"/>
                          </a:solidFill>
                          <a:latin typeface="Arial"/>
                        </a:rPr>
                        <a:t>Device-DAX L1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5F5F7"/>
                          </a:solidFill>
                          <a:latin typeface="Arial"/>
                        </a:rPr>
                        <a:t>DRAM L1 + DAX L2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1" dirty="0">
                          <a:solidFill>
                            <a:srgbClr val="F5F5F7"/>
                          </a:solidFill>
                          <a:latin typeface="Arial"/>
                        </a:rPr>
                        <a:t>Shared L1</a:t>
                      </a:r>
                      <a:r>
                        <a:rPr lang="en-US" sz="1950" b="1" dirty="0">
                          <a:solidFill>
                            <a:srgbClr val="F5F5F7"/>
                          </a:solidFill>
                          <a:latin typeface="Arial"/>
                        </a:rPr>
                        <a:t> (Upstream soon)</a:t>
                      </a:r>
                      <a:endParaRPr sz="1950" b="1" dirty="0">
                        <a:solidFill>
                          <a:srgbClr val="F5F5F7"/>
                        </a:solidFill>
                        <a:latin typeface="Arial"/>
                      </a:endParaRP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24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950" b="1" dirty="0">
                          <a:solidFill>
                            <a:srgbClr val="F5F5F7"/>
                          </a:solidFill>
                          <a:latin typeface="Arial"/>
                        </a:rPr>
                        <a:t> </a:t>
                      </a:r>
                      <a:r>
                        <a:rPr sz="1950" b="1" dirty="0">
                          <a:solidFill>
                            <a:srgbClr val="F5F5F7"/>
                          </a:solidFill>
                          <a:latin typeface="Arial"/>
                        </a:rPr>
                        <a:t>Flags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--l1-manager, type DEVDAX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--l2-adapter, type dax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a shared region, plus lmcache memory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24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5F5F7"/>
                          </a:solidFill>
                          <a:latin typeface="Arial"/>
                        </a:rPr>
                        <a:t>Data path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Copied to CXL by the GPU directly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Copied into fixed slots by the CPU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Copied by the GPU, with visibility fences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5F5F7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One server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One server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Many servers</a:t>
                      </a:r>
                    </a:p>
                  </a:txBody>
                  <a:tcPr marL="148590" marR="148590" marT="86678" marB="86678"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1">
                          <a:solidFill>
                            <a:srgbClr val="F5F5F7"/>
                          </a:solidFill>
                          <a:latin typeface="Arial"/>
                        </a:rPr>
                        <a:t>While running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Added, drained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>
                          <a:solidFill>
                            <a:srgbClr val="F5F5F7"/>
                          </a:solidFill>
                          <a:latin typeface="Arial"/>
                        </a:rPr>
                        <a:t>Added, resized, removed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950" b="0" dirty="0">
                          <a:solidFill>
                            <a:srgbClr val="F5F5F7"/>
                          </a:solidFill>
                          <a:latin typeface="Arial"/>
                        </a:rPr>
                        <a:t>Fixed. Reset when stopped.</a:t>
                      </a:r>
                    </a:p>
                  </a:txBody>
                  <a:tcPr marL="148590" marR="148590" marT="86678" marB="86678">
                    <a:solidFill>
                      <a:srgbClr val="141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Where CXL is plugged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4215289"/>
            <a:ext cx="3238500" cy="1887855"/>
          </a:xfrm>
          <a:prstGeom prst="roundRect">
            <a:avLst>
              <a:gd name="adj" fmla="val 8072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62100" y="4520089"/>
            <a:ext cx="25527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100" y="5080159"/>
            <a:ext cx="25527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KV is sent to the cache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86300" y="5025866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72100" y="3972401"/>
            <a:ext cx="7162800" cy="2373630"/>
          </a:xfrm>
          <a:prstGeom prst="roundRect">
            <a:avLst>
              <a:gd name="adj" fmla="val 642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76900" y="4239101"/>
            <a:ext cx="6553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6900" y="4924901"/>
            <a:ext cx="142875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L1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19950" y="4810601"/>
            <a:ext cx="909066" cy="5486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90500" tIns="114300" rIns="190500" bIns="114300" rtlCol="0" anchor="ctr"/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DRAM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3316" y="4810601"/>
            <a:ext cx="2109216" cy="54864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90500" tIns="114300" rIns="190500" bIns="114300" rtlCol="0" anchor="ctr"/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DEVDAX · CXL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66832" y="4810601"/>
            <a:ext cx="777050" cy="5486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90500" tIns="114300" rIns="190500" bIns="114300" rtlCol="0" anchor="ctr"/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GDS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6900" y="5644991"/>
            <a:ext cx="142875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L2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9950" y="5530691"/>
            <a:ext cx="1677162" cy="54864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90500" tIns="114300" rIns="190500" bIns="114300" rtlCol="0" anchor="ctr"/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dax · CXL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1412" y="5530691"/>
            <a:ext cx="645033" cy="5486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90500" tIns="114300" rIns="190500" bIns="114300" rtlCol="0" anchor="ctr"/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0745" y="5530691"/>
            <a:ext cx="909066" cy="5486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90500" tIns="114300" rIns="190500" bIns="114300" rtlCol="0" anchor="ctr"/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nixl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94111" y="5530691"/>
            <a:ext cx="909066" cy="5486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90500" tIns="114300" rIns="190500" bIns="114300" rtlCol="0" anchor="ctr"/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s3 …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763500" y="5025866"/>
            <a:ext cx="457200" cy="266700"/>
          </a:xfrm>
          <a:prstGeom prst="rightArrow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3449300" y="2764155"/>
            <a:ext cx="3619500" cy="2246948"/>
          </a:xfrm>
          <a:prstGeom prst="roundRect">
            <a:avLst>
              <a:gd name="adj" fmla="val 6782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92200" y="3068955"/>
            <a:ext cx="29337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Coordinator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92200" y="3629025"/>
            <a:ext cx="2933700" cy="1077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who is in the group, what is cached, how full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449300" y="5239702"/>
            <a:ext cx="3619500" cy="2314575"/>
          </a:xfrm>
          <a:prstGeom prst="roundRect">
            <a:avLst>
              <a:gd name="adj" fmla="val 6584"/>
            </a:avLst>
          </a:prstGeom>
          <a:solidFill>
            <a:srgbClr val="1C1C1E"/>
          </a:solidFill>
          <a:ln w="19050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92200" y="5544502"/>
            <a:ext cx="2933700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Memory orchestrator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92200" y="6531292"/>
            <a:ext cx="29337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the shared L1 region is owned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8362950"/>
            <a:ext cx="15849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0">
                <a:solidFill>
                  <a:srgbClr val="F5F5F7"/>
                </a:solidFill>
                <a:latin typeface="Arial"/>
              </a:rPr>
              <a:t>CXL is found three times: as an L1, as an L2, and as the shared L1 region.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The machines</a:t>
            </a:r>
          </a:p>
        </p:txBody>
      </p:sp>
      <p:pic>
        <p:nvPicPr>
          <p:cNvPr id="4" name="Picture 3" descr="fig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19" y="2611755"/>
            <a:ext cx="11483163" cy="5143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19200" y="7983855"/>
            <a:ext cx="78105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85900" y="8281035"/>
            <a:ext cx="342900" cy="342900"/>
          </a:xfrm>
          <a:prstGeom prst="ellipse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1200" y="8303895"/>
            <a:ext cx="6781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2 sockets · 8 GPUs with 96 GB · 2 TiB DRAM per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8300" y="7983855"/>
            <a:ext cx="78105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n 8"/>
          <p:cNvSpPr/>
          <p:nvPr/>
        </p:nvSpPr>
        <p:spPr>
          <a:xfrm>
            <a:off x="9525000" y="8281035"/>
            <a:ext cx="342900" cy="342900"/>
          </a:xfrm>
          <a:prstGeom prst="can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20300" y="8155305"/>
            <a:ext cx="678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2 × 5 TiB CXL memory, one device per socket, seen by both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From the device to /dev/dax</a:t>
            </a:r>
          </a:p>
        </p:txBody>
      </p:sp>
      <p:pic>
        <p:nvPicPr>
          <p:cNvPr id="4" name="Picture 3" descr="fig_lin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06" y="2611755"/>
            <a:ext cx="13980788" cy="5143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19200" y="7983855"/>
            <a:ext cx="5130800" cy="123444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485900" y="8429625"/>
            <a:ext cx="342900" cy="342900"/>
          </a:xfrm>
          <a:prstGeom prst="triangle">
            <a:avLst/>
          </a:prstGeom>
          <a:solidFill>
            <a:srgbClr val="FFB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85" b="1">
                <a:solidFill>
                  <a:srgbClr val="F5F5F7"/>
                </a:solidFill>
                <a:latin typeface="Arial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8303895"/>
            <a:ext cx="41021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Mapped at the device’s alignment: 2 MiB on this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8600" y="7983855"/>
            <a:ext cx="5130800" cy="123444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n 8"/>
          <p:cNvSpPr/>
          <p:nvPr/>
        </p:nvSpPr>
        <p:spPr>
          <a:xfrm>
            <a:off x="6845300" y="8429625"/>
            <a:ext cx="342900" cy="342900"/>
          </a:xfrm>
          <a:prstGeom prst="can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40600" y="8155305"/>
            <a:ext cx="4102100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Data is kept after the server exits. No index, nothing after power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938000" y="7983855"/>
            <a:ext cx="5130800" cy="123444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204700" y="8429625"/>
            <a:ext cx="342900" cy="342900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00000" y="8303895"/>
            <a:ext cx="41021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This memory is kept out of Linux’s general pool by devdax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Five steps from device to GPU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43250"/>
            <a:ext cx="2857500" cy="133350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09700" y="3295650"/>
            <a:ext cx="24765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Opened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3627120"/>
            <a:ext cx="2476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/dev/dax0.0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7225" y="3143250"/>
            <a:ext cx="2857500" cy="133350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57725" y="3295650"/>
            <a:ext cx="24765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Mapped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627120"/>
            <a:ext cx="2476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mapped into the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5250" y="3143250"/>
            <a:ext cx="2857500" cy="133350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5750" y="3295650"/>
            <a:ext cx="24765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Page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0" y="3627120"/>
            <a:ext cx="2476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pointed at the 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63275" y="3143250"/>
            <a:ext cx="2857500" cy="133350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3775" y="3295650"/>
            <a:ext cx="24765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CUDA is told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3775" y="3627120"/>
            <a:ext cx="2476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cudaHostRegister, 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11300" y="3143250"/>
            <a:ext cx="2857500" cy="133350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401800" y="3295650"/>
            <a:ext cx="24765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Copied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1800" y="3627120"/>
            <a:ext cx="2476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GPU to CXL,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667250"/>
            <a:ext cx="28575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Size, alignment and socket are in sysfs.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7225" y="4667250"/>
            <a:ext cx="28575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offset is picked by the LMCache server. The same offset can be picked on server 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0" y="4667250"/>
            <a:ext cx="28575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No extra copies are kept by Linux, and it is never swapped 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63275" y="4667250"/>
            <a:ext cx="28575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Pinned once. It is never moved while the program runs.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11300" y="4667250"/>
            <a:ext cx="28575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One copy per chunk. CPU copies are used only for the DAX L2 slots.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76700" y="3810000"/>
            <a:ext cx="390525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24725" y="3810000"/>
            <a:ext cx="390525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72750" y="3810000"/>
            <a:ext cx="390525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820775" y="3810000"/>
            <a:ext cx="390525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19200" y="6667500"/>
            <a:ext cx="7772400" cy="1714500"/>
          </a:xfrm>
          <a:prstGeom prst="roundRect">
            <a:avLst>
              <a:gd name="adj" fmla="val 8888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47800" y="68199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Through system-ram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71704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Memory chosen by Linux is given. Small pages unless they are merged by Linux. It can be moved, or lent to others.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6400" y="6667500"/>
            <a:ext cx="7772400" cy="1714500"/>
          </a:xfrm>
          <a:prstGeom prst="roundRect">
            <a:avLst>
              <a:gd name="adj" fmla="val 8888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25000" y="68199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Through devdax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0" y="71704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A fixed block at a known spot on a known socket is given, pinned once. The same bytes can be named by two servers.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Is it seen by the GPU?</a:t>
            </a:r>
          </a:p>
        </p:txBody>
      </p:sp>
      <p:pic>
        <p:nvPicPr>
          <p:cNvPr id="4" name="Picture 3" descr="chart_gpu_b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744" y="2611755"/>
            <a:ext cx="7635411" cy="46672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096500" y="2611755"/>
            <a:ext cx="69723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63200" y="2908935"/>
            <a:ext cx="342900" cy="342900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85" b="1">
                <a:solidFill>
                  <a:srgbClr val="F5F5F7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2783205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The mapping is registered once with cudaHostRegister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96500" y="3701415"/>
            <a:ext cx="69723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ghtning Bolt 8"/>
          <p:cNvSpPr/>
          <p:nvPr/>
        </p:nvSpPr>
        <p:spPr>
          <a:xfrm>
            <a:off x="10363200" y="3998595"/>
            <a:ext cx="342900" cy="342900"/>
          </a:xfrm>
          <a:prstGeom prst="lightningBol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58500" y="3872865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Then the GPU copies to and from the device directly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4791075"/>
            <a:ext cx="69723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63200" y="5088255"/>
            <a:ext cx="342900" cy="342900"/>
          </a:xfrm>
          <a:prstGeom prst="ellipse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58500" y="4962525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Direct is 8× faster than the two-copy fallback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7507605"/>
            <a:ext cx="1584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Measured with the workshop probe: eight 1 GiB copies. The Device-DAX L1 does this registration at startup.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Deployment,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764155"/>
            <a:ext cx="158496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A1A1A6"/>
                </a:solidFill>
                <a:latin typeface="Arial"/>
              </a:rPr>
              <a:t>One server. The Device-DAX L1. Hot-plug. The DAX L2. Then two servers on one shared L1.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One server, two processes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12382500" cy="5105400"/>
          </a:xfrm>
          <a:prstGeom prst="roundRect">
            <a:avLst>
              <a:gd name="adj" fmla="val 3358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119253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250" y="37719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0750" y="4107180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461510"/>
            <a:ext cx="3429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0250" y="59055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0750" y="6086475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440805"/>
            <a:ext cx="34290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KV cache of running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71900"/>
            <a:ext cx="4000500" cy="3467100"/>
          </a:xfrm>
          <a:prstGeom prst="roundRect">
            <a:avLst>
              <a:gd name="adj" fmla="val 3846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34500" y="3924300"/>
            <a:ext cx="3619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0" y="4278630"/>
            <a:ext cx="3619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MP mode: its own 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0250" y="4438650"/>
            <a:ext cx="3333750" cy="0"/>
          </a:xfrm>
          <a:prstGeom prst="line">
            <a:avLst/>
          </a:prstGeom>
          <a:ln w="28575">
            <a:solidFill>
              <a:srgbClr val="F5F5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40386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lookups, block 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10250" y="6572250"/>
            <a:ext cx="3333750" cy="0"/>
          </a:xfrm>
          <a:prstGeom prst="line">
            <a:avLst/>
          </a:prstGeom>
          <a:ln w="28575">
            <a:solidFill>
              <a:srgbClr val="2997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0" y="66675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2997FF"/>
                </a:solidFill>
                <a:latin typeface="Arial"/>
              </a:rPr>
              <a:t>KV bytes over CUDA IPC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8420100"/>
            <a:ext cx="15849600" cy="33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The engine is kept simple. The cache is run as its own process, and it survives an engine restart.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The Device-DAX L1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12382500" cy="5105400"/>
          </a:xfrm>
          <a:prstGeom prst="roundRect">
            <a:avLst>
              <a:gd name="adj" fmla="val 3358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119253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250" y="37719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0750" y="4107180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461510"/>
            <a:ext cx="3429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0250" y="59055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0750" y="6086475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440805"/>
            <a:ext cx="34290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KV cache of running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71900"/>
            <a:ext cx="4000500" cy="3467100"/>
          </a:xfrm>
          <a:prstGeom prst="roundRect">
            <a:avLst>
              <a:gd name="adj" fmla="val 3846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34500" y="3924300"/>
            <a:ext cx="3619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0" y="4278630"/>
            <a:ext cx="3619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MP mode: its own 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0250" y="4438650"/>
            <a:ext cx="3333750" cy="0"/>
          </a:xfrm>
          <a:prstGeom prst="line">
            <a:avLst/>
          </a:prstGeom>
          <a:ln w="28575">
            <a:solidFill>
              <a:srgbClr val="F5F5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40386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lookups, block 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10250" y="6572250"/>
            <a:ext cx="3333750" cy="0"/>
          </a:xfrm>
          <a:prstGeom prst="line">
            <a:avLst/>
          </a:prstGeom>
          <a:ln w="28575">
            <a:solidFill>
              <a:srgbClr val="2997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0" y="66675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2997FF"/>
                </a:solidFill>
                <a:latin typeface="Arial"/>
              </a:rPr>
              <a:t>KV bytes over CUDA IPC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78000" y="3771900"/>
            <a:ext cx="2590800" cy="3467100"/>
          </a:xfrm>
          <a:prstGeom prst="roundRect">
            <a:avLst>
              <a:gd name="adj" fmla="val 5147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68500" y="3924300"/>
            <a:ext cx="2209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500" y="4278630"/>
            <a:ext cx="2209800" cy="925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/dev/dax0.0 · mapped, registered with CUDA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5334000"/>
            <a:ext cx="354330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L1 manager · DEVDAX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144500" y="5581650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05250" y="7239000"/>
            <a:ext cx="0" cy="533400"/>
          </a:xfrm>
          <a:prstGeom prst="line">
            <a:avLst/>
          </a:prstGeom>
          <a:ln w="28575">
            <a:solidFill>
              <a:srgbClr val="FF9F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05250" y="7772400"/>
            <a:ext cx="11868150" cy="0"/>
          </a:xfrm>
          <a:prstGeom prst="line">
            <a:avLst/>
          </a:prstGeom>
          <a:ln w="28575">
            <a:solidFill>
              <a:srgbClr val="FF9F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773400" y="7239000"/>
            <a:ext cx="0" cy="53340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96000" y="7829550"/>
            <a:ext cx="85725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direct copies between the GPU and the device · 22 GB/s measured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8420100"/>
            <a:ext cx="15849600" cy="33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The L1 is placed in CXL memory. Registered once with CUDA, the device is copied to and from by the GPU directly.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The first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12382500" cy="5105400"/>
          </a:xfrm>
          <a:prstGeom prst="roundRect">
            <a:avLst>
              <a:gd name="adj" fmla="val 3358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119253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250" y="37719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0750" y="4107180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461510"/>
            <a:ext cx="3429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0250" y="59055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0750" y="6086475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440805"/>
            <a:ext cx="34290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KV cache of running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71900"/>
            <a:ext cx="4000500" cy="3467100"/>
          </a:xfrm>
          <a:prstGeom prst="roundRect">
            <a:avLst>
              <a:gd name="adj" fmla="val 3846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34500" y="3924300"/>
            <a:ext cx="3619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0" y="4278630"/>
            <a:ext cx="3619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MP mode: its own 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0250" y="4438650"/>
            <a:ext cx="3333750" cy="0"/>
          </a:xfrm>
          <a:prstGeom prst="line">
            <a:avLst/>
          </a:prstGeom>
          <a:ln w="28575">
            <a:solidFill>
              <a:srgbClr val="F5F5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40386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lookups, block 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10250" y="6572250"/>
            <a:ext cx="3333750" cy="0"/>
          </a:xfrm>
          <a:prstGeom prst="line">
            <a:avLst/>
          </a:prstGeom>
          <a:ln w="28575">
            <a:solidFill>
              <a:srgbClr val="2997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0" y="66675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2997FF"/>
                </a:solidFill>
                <a:latin typeface="Arial"/>
              </a:rPr>
              <a:t>KV bytes over CUDA IPC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78000" y="3771900"/>
            <a:ext cx="2590800" cy="3467100"/>
          </a:xfrm>
          <a:prstGeom prst="roundRect">
            <a:avLst>
              <a:gd name="adj" fmla="val 5147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68500" y="3924300"/>
            <a:ext cx="2209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500" y="4278630"/>
            <a:ext cx="2209800" cy="925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/dev/dax0.0 · mapped, registered with CUDA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144500" y="5581650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5334000"/>
            <a:ext cx="354330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L1 manager · DEVDAX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05250" y="7239000"/>
            <a:ext cx="0" cy="533400"/>
          </a:xfrm>
          <a:prstGeom prst="line">
            <a:avLst/>
          </a:prstGeom>
          <a:ln w="28575">
            <a:solidFill>
              <a:srgbClr val="FF9F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05250" y="7772400"/>
            <a:ext cx="11868150" cy="0"/>
          </a:xfrm>
          <a:prstGeom prst="line">
            <a:avLst/>
          </a:prstGeom>
          <a:ln w="28575">
            <a:solidFill>
              <a:srgbClr val="FF9F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773400" y="7239000"/>
            <a:ext cx="0" cy="53340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000250" y="2552700"/>
            <a:ext cx="7239000" cy="4495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Request 1 · a long document and a question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28850" y="6781800"/>
            <a:ext cx="335280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prefill · 8,000 tokens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8209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53162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58115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63068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68500" y="6629400"/>
            <a:ext cx="22479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F9F0A"/>
                </a:solidFill>
                <a:latin typeface="Arial"/>
              </a:rPr>
              <a:t>256-token chunks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9200" y="8420100"/>
            <a:ext cx="15849600" cy="33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The document is prefilled on the GPU. Its KV is stored into the L1 in the background, chunk by chunk.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The second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12382500" cy="5105400"/>
          </a:xfrm>
          <a:prstGeom prst="roundRect">
            <a:avLst>
              <a:gd name="adj" fmla="val 3358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119253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250" y="37719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0750" y="4107180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461510"/>
            <a:ext cx="3429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0250" y="59055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0750" y="6086475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440805"/>
            <a:ext cx="34290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KV cache of running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71900"/>
            <a:ext cx="4000500" cy="3467100"/>
          </a:xfrm>
          <a:prstGeom prst="roundRect">
            <a:avLst>
              <a:gd name="adj" fmla="val 3846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34500" y="3924300"/>
            <a:ext cx="3619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0" y="4278630"/>
            <a:ext cx="3619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MP mode: its own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478000" y="3771900"/>
            <a:ext cx="2590800" cy="3467100"/>
          </a:xfrm>
          <a:prstGeom prst="roundRect">
            <a:avLst>
              <a:gd name="adj" fmla="val 5147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68500" y="3924300"/>
            <a:ext cx="2209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68500" y="4278630"/>
            <a:ext cx="2209800" cy="925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/dev/dax0.0 · mapped, registered with CUDA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144500" y="5581650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72600" y="5334000"/>
            <a:ext cx="354330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L1 manager · DEVDAX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10250" y="4438650"/>
            <a:ext cx="3333750" cy="0"/>
          </a:xfrm>
          <a:prstGeom prst="line">
            <a:avLst/>
          </a:prstGeom>
          <a:ln w="28575">
            <a:solidFill>
              <a:srgbClr val="F5F5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6000" y="4038600"/>
            <a:ext cx="28575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lookup · hit, 15 chunks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10250" y="6572250"/>
            <a:ext cx="3333750" cy="0"/>
          </a:xfrm>
          <a:prstGeom prst="line">
            <a:avLst/>
          </a:prstGeom>
          <a:ln w="28575">
            <a:solidFill>
              <a:srgbClr val="2997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6000" y="66675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2997FF"/>
                </a:solidFill>
                <a:latin typeface="Arial"/>
              </a:rPr>
              <a:t>KV bytes over CUDA IPC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05250" y="7239000"/>
            <a:ext cx="0" cy="533400"/>
          </a:xfrm>
          <a:prstGeom prst="line">
            <a:avLst/>
          </a:prstGeom>
          <a:ln w="28575">
            <a:solidFill>
              <a:srgbClr val="FF9F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05250" y="7772400"/>
            <a:ext cx="11868150" cy="0"/>
          </a:xfrm>
          <a:prstGeom prst="line">
            <a:avLst/>
          </a:prstGeom>
          <a:ln w="28575">
            <a:solidFill>
              <a:srgbClr val="FF9F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773400" y="7239000"/>
            <a:ext cx="0" cy="53340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8209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53162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58115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63068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000250" y="2552700"/>
            <a:ext cx="7239000" cy="44958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Request 2 · the same document, a new question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68500" y="5943600"/>
            <a:ext cx="2247900" cy="685800"/>
          </a:xfrm>
          <a:prstGeom prst="roundRect">
            <a:avLst>
              <a:gd name="adj" fmla="val 16666"/>
            </a:avLst>
          </a:prstGeom>
          <a:noFill/>
          <a:ln w="28575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96000" y="7829550"/>
            <a:ext cx="8572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retrieve · direct copies into the GPU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7500" y="2552700"/>
            <a:ext cx="6591300" cy="449580"/>
          </a:xfrm>
          <a:prstGeom prst="roundRect">
            <a:avLst>
              <a:gd name="adj" fmla="val 50000"/>
            </a:avLst>
          </a:prstGeom>
          <a:solidFill>
            <a:srgbClr val="0F2E1C"/>
          </a:solidFill>
          <a:ln w="9525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30D158"/>
                </a:solidFill>
                <a:latin typeface="Arial"/>
              </a:rPr>
              <a:t>TTFT 0.62 s → 0.16 s, measured on this rig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200" y="8420100"/>
            <a:ext cx="15849600" cy="33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Only the question is prefilled. The document’s KV is retrieved from CXL.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Hot-plug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12382500" cy="5105400"/>
          </a:xfrm>
          <a:prstGeom prst="roundRect">
            <a:avLst>
              <a:gd name="adj" fmla="val 3358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119253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250" y="37719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0750" y="4107180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461510"/>
            <a:ext cx="3429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0250" y="59055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0750" y="6086475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440805"/>
            <a:ext cx="34290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KV cache of running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71900"/>
            <a:ext cx="4000500" cy="3467100"/>
          </a:xfrm>
          <a:prstGeom prst="roundRect">
            <a:avLst>
              <a:gd name="adj" fmla="val 3846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34500" y="3924300"/>
            <a:ext cx="3619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0" y="4278630"/>
            <a:ext cx="3619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MP mode: its own 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0250" y="4438650"/>
            <a:ext cx="3333750" cy="0"/>
          </a:xfrm>
          <a:prstGeom prst="line">
            <a:avLst/>
          </a:prstGeom>
          <a:ln w="28575">
            <a:solidFill>
              <a:srgbClr val="F5F5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40386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lookups, block 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10250" y="6572250"/>
            <a:ext cx="3333750" cy="0"/>
          </a:xfrm>
          <a:prstGeom prst="line">
            <a:avLst/>
          </a:prstGeom>
          <a:ln w="28575">
            <a:solidFill>
              <a:srgbClr val="2997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0" y="66675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2997FF"/>
                </a:solidFill>
                <a:latin typeface="Arial"/>
              </a:rPr>
              <a:t>KV bytes over CUDA IPC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78000" y="3771900"/>
            <a:ext cx="2590800" cy="1619250"/>
          </a:xfrm>
          <a:prstGeom prst="roundRect">
            <a:avLst>
              <a:gd name="adj" fmla="val 8235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68500" y="4250055"/>
            <a:ext cx="2209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500" y="4604385"/>
            <a:ext cx="22098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/dev/dax0.0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144500" y="5581650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5334000"/>
            <a:ext cx="354330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L1 manager · DEVDAX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478000" y="5676900"/>
            <a:ext cx="2590800" cy="1562100"/>
          </a:xfrm>
          <a:prstGeom prst="roundRect">
            <a:avLst>
              <a:gd name="adj" fmla="val 8536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68500" y="5829300"/>
            <a:ext cx="2209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A second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68500" y="6480810"/>
            <a:ext cx="22098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/dev/dax0.1 · added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144500" y="6457950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0" y="7467600"/>
            <a:ext cx="1238250" cy="449580"/>
          </a:xfrm>
          <a:prstGeom prst="roundRect">
            <a:avLst>
              <a:gd name="adj" fmla="val 50000"/>
            </a:avLst>
          </a:prstGeom>
          <a:solidFill>
            <a:srgbClr val="0F2E1C"/>
          </a:solidFill>
          <a:ln w="9525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30D158"/>
                </a:solidFill>
                <a:latin typeface="Arial"/>
              </a:rPr>
              <a:t>active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7467600"/>
            <a:ext cx="139065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B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B340"/>
                </a:solidFill>
                <a:latin typeface="Arial"/>
              </a:rPr>
              <a:t>draining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39600" y="7467600"/>
            <a:ext cx="1257300" cy="449580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removed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8420100"/>
            <a:ext cx="15849600" cy="33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Capacity is added and drained while serving. Reads are still served while a device drains. No restart.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DRAM in front, CXL behind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12382500" cy="5105400"/>
          </a:xfrm>
          <a:prstGeom prst="roundRect">
            <a:avLst>
              <a:gd name="adj" fmla="val 3358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119253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250" y="37719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0750" y="4107180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461510"/>
            <a:ext cx="3429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0250" y="5905500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0750" y="6086475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440805"/>
            <a:ext cx="34290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KV cache of running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771900"/>
            <a:ext cx="4000500" cy="3467100"/>
          </a:xfrm>
          <a:prstGeom prst="roundRect">
            <a:avLst>
              <a:gd name="adj" fmla="val 3846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34500" y="3924300"/>
            <a:ext cx="3619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0" y="4278630"/>
            <a:ext cx="3619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MP mode: its own 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0250" y="4438650"/>
            <a:ext cx="3333750" cy="0"/>
          </a:xfrm>
          <a:prstGeom prst="line">
            <a:avLst/>
          </a:prstGeom>
          <a:ln w="28575">
            <a:solidFill>
              <a:srgbClr val="F5F5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40386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lookups, block 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10250" y="6572250"/>
            <a:ext cx="3333750" cy="0"/>
          </a:xfrm>
          <a:prstGeom prst="line">
            <a:avLst/>
          </a:prstGeom>
          <a:ln w="28575">
            <a:solidFill>
              <a:srgbClr val="2997F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0" y="6667500"/>
            <a:ext cx="2857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2997FF"/>
                </a:solidFill>
                <a:latin typeface="Arial"/>
              </a:rPr>
              <a:t>KV bytes over CUDA IPC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78000" y="3771900"/>
            <a:ext cx="2590800" cy="3467100"/>
          </a:xfrm>
          <a:prstGeom prst="roundRect">
            <a:avLst>
              <a:gd name="adj" fmla="val 5147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68500" y="3924300"/>
            <a:ext cx="22098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CXL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500" y="4278630"/>
            <a:ext cx="22098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DAX L2 · fixed slots of 36 MiB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144500" y="5581650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5334000"/>
            <a:ext cx="3543300" cy="44958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9525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L1 manager · DRAM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5905500"/>
            <a:ext cx="354330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L2 adapter · dax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144500" y="6057900"/>
            <a:ext cx="1333500" cy="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220700" y="5695950"/>
            <a:ext cx="12192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store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144500" y="6819900"/>
            <a:ext cx="1333500" cy="0"/>
          </a:xfrm>
          <a:prstGeom prst="line">
            <a:avLst/>
          </a:prstGeom>
          <a:ln w="28575">
            <a:solidFill>
              <a:srgbClr val="2997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220700" y="6877050"/>
            <a:ext cx="12192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820900" y="6286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5316200" y="6286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5811500" y="6286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6306800" y="6286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19200" y="8420100"/>
            <a:ext cx="158496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Hot data stays in the DRAM L1. CXL becomes the bigger L2 behind it: stores are CPU copies into slots, loads are prefetched back.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Two jobs: ownership and visibility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2649855"/>
            <a:ext cx="7772400" cy="3158490"/>
          </a:xfrm>
          <a:prstGeom prst="roundRect">
            <a:avLst>
              <a:gd name="adj" fmla="val 4825"/>
            </a:avLst>
          </a:prstGeom>
          <a:solidFill>
            <a:srgbClr val="1C1C1E"/>
          </a:solidFill>
          <a:ln w="19050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62100" y="2954655"/>
            <a:ext cx="419100" cy="419100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2100" y="3507105"/>
            <a:ext cx="70866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Ownership: the memory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4067175"/>
            <a:ext cx="7086600" cy="1077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Where is a chunk kept? By whom may it be written? When may it be read by the other server? These are answered by one process, with small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96400" y="2649855"/>
            <a:ext cx="7772400" cy="3158490"/>
          </a:xfrm>
          <a:prstGeom prst="roundRect">
            <a:avLst>
              <a:gd name="adj" fmla="val 4825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ghtning Bolt 8"/>
          <p:cNvSpPr/>
          <p:nvPr/>
        </p:nvSpPr>
        <p:spPr>
          <a:xfrm>
            <a:off x="9639300" y="2954655"/>
            <a:ext cx="419100" cy="419100"/>
          </a:xfrm>
          <a:prstGeom prst="lightningBol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39300" y="3507105"/>
            <a:ext cx="7086600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F5F5F7"/>
                </a:solidFill>
                <a:latin typeface="Arial"/>
              </a:rPr>
              <a:t>Visibility: the fences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9300" y="4067175"/>
            <a:ext cx="7086600" cy="1436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An old copy of the same memory may still be held by server B in its CPU cache. The new data is made visible by a publish fence on A and an acquire fence on 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0" y="6075045"/>
            <a:ext cx="3390900" cy="1729740"/>
          </a:xfrm>
          <a:prstGeom prst="roundRect">
            <a:avLst>
              <a:gd name="adj" fmla="val 660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A chunk is written by A. It is held in A’s CPU cache.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62500" y="6806565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72100" y="6075045"/>
            <a:ext cx="3390900" cy="1729740"/>
          </a:xfrm>
          <a:prstGeom prst="roundRect">
            <a:avLst>
              <a:gd name="adj" fmla="val 660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A read is made by B. The old data is still held in its own cache: stale.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15400" y="6806565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25000" y="6075045"/>
            <a:ext cx="3390900" cy="1729740"/>
          </a:xfrm>
          <a:prstGeom prst="roundRect">
            <a:avLst>
              <a:gd name="adj" fmla="val 6607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A publish fence on A: CLFLUSHOPT, then SFENCE. The memory is reached by the data.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068300" y="6806565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3677900" y="6075045"/>
            <a:ext cx="3390900" cy="1729740"/>
          </a:xfrm>
          <a:prstGeom prst="roundRect">
            <a:avLst>
              <a:gd name="adj" fmla="val 6607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An acquire fence on B, then a read: fresh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8071485"/>
            <a:ext cx="1584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Ownership is covered on the next two slides. The exact fence steps come after.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A second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7239000" cy="3810000"/>
          </a:xfrm>
          <a:prstGeom prst="roundRect">
            <a:avLst>
              <a:gd name="adj" fmla="val 4500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678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4950" y="371475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5450" y="390715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4261485"/>
            <a:ext cx="2476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4950" y="514350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5450" y="551878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714750"/>
            <a:ext cx="3143250" cy="2476500"/>
          </a:xfrm>
          <a:prstGeom prst="roundRect">
            <a:avLst>
              <a:gd name="adj" fmla="val 5384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9700" y="3867150"/>
            <a:ext cx="276225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45720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shared L1 · DEVDAX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51054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9525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DRAM L1 · spill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162300"/>
            <a:ext cx="7239000" cy="3810000"/>
          </a:xfrm>
          <a:prstGeom prst="roundRect">
            <a:avLst>
              <a:gd name="adj" fmla="val 4500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0" y="3295650"/>
            <a:ext cx="678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15550" y="371475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06050" y="390715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6050" y="4261485"/>
            <a:ext cx="2476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5550" y="514350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6050" y="551878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39800" y="3714750"/>
            <a:ext cx="3143250" cy="2476500"/>
          </a:xfrm>
          <a:prstGeom prst="roundRect">
            <a:avLst>
              <a:gd name="adj" fmla="val 5384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30300" y="3867150"/>
            <a:ext cx="276225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868400" y="45720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shared L1 · DEVDAX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8400" y="51054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9525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DRAM L1 · spill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76700" y="7277100"/>
            <a:ext cx="10134600" cy="914400"/>
          </a:xfrm>
          <a:prstGeom prst="roundRect">
            <a:avLst>
              <a:gd name="adj" fmla="val 14583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67200" y="7429500"/>
            <a:ext cx="97536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Shared L1 region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7200" y="7783830"/>
            <a:ext cx="97536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same bytes on both servers: /dev/dax0.0 on A, /dev/dax4.0 on 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33700" y="6191250"/>
            <a:ext cx="1143000" cy="154305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44300" y="6191250"/>
            <a:ext cx="2667000" cy="154305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39000" y="2457450"/>
            <a:ext cx="3810000" cy="609600"/>
          </a:xfrm>
          <a:prstGeom prst="roundRect">
            <a:avLst>
              <a:gd name="adj" fmla="val 21875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0" y="262509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memory orchestrator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429500" y="3067050"/>
            <a:ext cx="1143000" cy="647700"/>
          </a:xfrm>
          <a:prstGeom prst="line">
            <a:avLst/>
          </a:prstGeom>
          <a:ln w="19050">
            <a:solidFill>
              <a:srgbClr val="A1A1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15500" y="3067050"/>
            <a:ext cx="4953000" cy="647700"/>
          </a:xfrm>
          <a:prstGeom prst="line">
            <a:avLst/>
          </a:prstGeom>
          <a:ln w="19050">
            <a:solidFill>
              <a:srgbClr val="A1A1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8420100"/>
            <a:ext cx="15849600" cy="33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One region is mapped by both servers. One orchestrator keeps the bookkeeping. The KV bytes never pass through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Stored on A, retrieved on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3162300"/>
            <a:ext cx="7239000" cy="3810000"/>
          </a:xfrm>
          <a:prstGeom prst="roundRect">
            <a:avLst>
              <a:gd name="adj" fmla="val 4500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7800" y="3295650"/>
            <a:ext cx="678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4950" y="371475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5450" y="390715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4261485"/>
            <a:ext cx="2476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4950" y="514350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5450" y="551878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714750"/>
            <a:ext cx="3143250" cy="2476500"/>
          </a:xfrm>
          <a:prstGeom prst="roundRect">
            <a:avLst>
              <a:gd name="adj" fmla="val 5384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9700" y="3867150"/>
            <a:ext cx="276225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45720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shared L1 · DEVDAX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51054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9525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DRAM L1 · spill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162300"/>
            <a:ext cx="7239000" cy="3810000"/>
          </a:xfrm>
          <a:prstGeom prst="roundRect">
            <a:avLst>
              <a:gd name="adj" fmla="val 4500"/>
            </a:avLst>
          </a:prstGeom>
          <a:solidFill>
            <a:srgbClr val="141416"/>
          </a:solidFill>
          <a:ln w="9525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0" y="3295650"/>
            <a:ext cx="678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Server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15550" y="371475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06050" y="390715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vLLM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6050" y="4261485"/>
            <a:ext cx="24765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inference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15550" y="5143500"/>
            <a:ext cx="2857500" cy="1047750"/>
          </a:xfrm>
          <a:prstGeom prst="roundRect">
            <a:avLst>
              <a:gd name="adj" fmla="val 12727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6050" y="5518785"/>
            <a:ext cx="24765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GPU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39800" y="3714750"/>
            <a:ext cx="3143250" cy="2476500"/>
          </a:xfrm>
          <a:prstGeom prst="roundRect">
            <a:avLst>
              <a:gd name="adj" fmla="val 5384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30300" y="3867150"/>
            <a:ext cx="276225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LMCache 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868400" y="45720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2E2010"/>
          </a:solidFill>
          <a:ln w="9525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shared L1 · DEVDAX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8400" y="5105400"/>
            <a:ext cx="2686050" cy="44958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9525">
            <a:solidFill>
              <a:srgbClr val="299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1450" tIns="76200" rIns="171450" bIns="76200" rtlCol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DRAM L1 · spill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76700" y="7277100"/>
            <a:ext cx="10134600" cy="914400"/>
          </a:xfrm>
          <a:prstGeom prst="roundRect">
            <a:avLst>
              <a:gd name="adj" fmla="val 14583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67200" y="7429500"/>
            <a:ext cx="9753600" cy="29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5F5F7"/>
                </a:solidFill>
                <a:latin typeface="Arial"/>
              </a:rPr>
              <a:t>Shared L1 region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7200" y="7783830"/>
            <a:ext cx="97536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1D1D6"/>
                </a:solidFill>
                <a:latin typeface="Arial"/>
              </a:rPr>
              <a:t>the same bytes on both servers: /dev/dax0.0 on A, /dev/dax4.0 on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39000" y="2457450"/>
            <a:ext cx="3810000" cy="609600"/>
          </a:xfrm>
          <a:prstGeom prst="roundRect">
            <a:avLst>
              <a:gd name="adj" fmla="val 21875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29500" y="262509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memory orchestrator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429500" y="3067050"/>
            <a:ext cx="1143000" cy="647700"/>
          </a:xfrm>
          <a:prstGeom prst="line">
            <a:avLst/>
          </a:prstGeom>
          <a:ln w="19050">
            <a:solidFill>
              <a:srgbClr val="A1A1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15500" y="3067050"/>
            <a:ext cx="4953000" cy="647700"/>
          </a:xfrm>
          <a:prstGeom prst="line">
            <a:avLst/>
          </a:prstGeom>
          <a:ln w="19050">
            <a:solidFill>
              <a:srgbClr val="A1A1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19200" y="2457450"/>
            <a:ext cx="5715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1 · space for a chunk is asked for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9200" y="2781300"/>
            <a:ext cx="5715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2 · an offset and a write token come back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33700" y="6191250"/>
            <a:ext cx="1143000" cy="1543050"/>
          </a:xfrm>
          <a:prstGeom prst="line">
            <a:avLst/>
          </a:prstGeom>
          <a:ln w="28575">
            <a:solidFill>
              <a:srgbClr val="FF9F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953500" y="75438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19200" y="7162800"/>
            <a:ext cx="276225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3 · D2H copy, then publish fence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9200" y="7905750"/>
            <a:ext cx="276225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9F0A"/>
                </a:solidFill>
                <a:latin typeface="Arial"/>
              </a:rPr>
              <a:t>4 · committed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3800" y="2457450"/>
            <a:ext cx="5715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5 · lookup: is the chunk held?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53800" y="2781300"/>
            <a:ext cx="57150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6 · an offset and a read lease come back</a:t>
            </a:r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11544300" y="6191250"/>
            <a:ext cx="2667000" cy="1543050"/>
          </a:xfrm>
          <a:prstGeom prst="line">
            <a:avLst/>
          </a:prstGeom>
          <a:ln w="28575">
            <a:solidFill>
              <a:srgbClr val="2997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287500" y="7162800"/>
            <a:ext cx="278130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7 · acquire fence, then H2D copy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287500" y="7905750"/>
            <a:ext cx="278130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2997FF"/>
                </a:solidFill>
                <a:latin typeface="Arial"/>
              </a:rPr>
              <a:t>8 · lease released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9200" y="8420100"/>
            <a:ext cx="15849600" cy="33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F5F5F7"/>
                </a:solidFill>
                <a:latin typeface="Arial"/>
              </a:rPr>
              <a:t>Eight small messages. The bytes are moved only once, through the shared region.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219200"/>
            <a:ext cx="158496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225">
                <a:solidFill>
                  <a:srgbClr val="FF9F0A"/>
                </a:solidFill>
                <a:latin typeface="Arial"/>
              </a:rPr>
              <a:t>DEPLOYMENT,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628775"/>
            <a:ext cx="1584960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5F5F7"/>
                </a:solidFill>
                <a:latin typeface="Arial"/>
              </a:rPr>
              <a:t>Why every copy is fenced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611755"/>
            <a:ext cx="15849600" cy="104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D1D1D6"/>
                </a:solidFill>
                <a:latin typeface="Arial"/>
              </a:rPr>
              <a:t>The two servers’ CPU caches are not kept in sync by the CXL switch in this workshop, so it is done by software fences (software_fenced). With newer CXL (3.0) it can be done in hardware: the setup at hand should be checked before this design is copied.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880485"/>
            <a:ext cx="1584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Writer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9200" y="4295775"/>
            <a:ext cx="4775200" cy="1112520"/>
          </a:xfrm>
          <a:prstGeom prst="roundRect">
            <a:avLst>
              <a:gd name="adj" fmla="val 10273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GPU copy done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46800" y="4718685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56400" y="4295775"/>
            <a:ext cx="4775200" cy="1112520"/>
          </a:xfrm>
          <a:prstGeom prst="roundRect">
            <a:avLst>
              <a:gd name="adj" fmla="val 10273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publish fence: CLFLUSHOPT, SFENCE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684000" y="4718685"/>
            <a:ext cx="457200" cy="266700"/>
          </a:xfrm>
          <a:prstGeom prst="rightArrow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293600" y="4295775"/>
            <a:ext cx="4775200" cy="1112520"/>
          </a:xfrm>
          <a:prstGeom prst="roundRect">
            <a:avLst>
              <a:gd name="adj" fmla="val 10273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marked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636895"/>
            <a:ext cx="1584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A1A1A6"/>
                </a:solidFill>
                <a:latin typeface="Arial"/>
              </a:rPr>
              <a:t>Reader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0" y="6052185"/>
            <a:ext cx="4775200" cy="803910"/>
          </a:xfrm>
          <a:prstGeom prst="roundRect">
            <a:avLst>
              <a:gd name="adj" fmla="val 14218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a read is asked for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46800" y="6320790"/>
            <a:ext cx="457200" cy="266700"/>
          </a:xfrm>
          <a:prstGeom prst="rightArrow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56400" y="6052185"/>
            <a:ext cx="4775200" cy="803910"/>
          </a:xfrm>
          <a:prstGeom prst="roundRect">
            <a:avLst>
              <a:gd name="adj" fmla="val 14218"/>
            </a:avLst>
          </a:prstGeom>
          <a:solidFill>
            <a:srgbClr val="1C1C1E"/>
          </a:solidFill>
          <a:ln w="19050">
            <a:solidFill>
              <a:srgbClr val="FF9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acquire fence on the range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684000" y="6320790"/>
            <a:ext cx="457200" cy="266700"/>
          </a:xfrm>
          <a:prstGeom prst="rightArrow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2293600" y="6052185"/>
            <a:ext cx="4775200" cy="803910"/>
          </a:xfrm>
          <a:prstGeom prst="roundRect">
            <a:avLst>
              <a:gd name="adj" fmla="val 14218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47650" rIns="152400" bIns="247650" rtlCol="0" anchor="ctr"/>
          <a:lstStyle/>
          <a:p>
            <a:pPr algn="ctr">
              <a:lnSpc>
                <a:spcPct val="135000"/>
              </a:lnSpc>
            </a:pPr>
            <a:r>
              <a:rPr sz="1800" b="1">
                <a:solidFill>
                  <a:srgbClr val="F5F5F7"/>
                </a:solidFill>
                <a:latin typeface="Arial"/>
              </a:rPr>
              <a:t>copied to the GPU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9200" y="7084695"/>
            <a:ext cx="78105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sosceles Triangle 17"/>
          <p:cNvSpPr/>
          <p:nvPr/>
        </p:nvSpPr>
        <p:spPr>
          <a:xfrm>
            <a:off x="1485900" y="7381875"/>
            <a:ext cx="342900" cy="342900"/>
          </a:xfrm>
          <a:prstGeom prst="triangle">
            <a:avLst/>
          </a:prstGeom>
          <a:solidFill>
            <a:srgbClr val="FFB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85" b="1">
                <a:solidFill>
                  <a:srgbClr val="F5F5F7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200" y="7256145"/>
            <a:ext cx="678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coherent mode: only for one server, or hardware by which caches are kept in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8300" y="7084695"/>
            <a:ext cx="7810500" cy="93726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25000" y="7381875"/>
            <a:ext cx="342900" cy="342900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85" b="1">
                <a:solidFill>
                  <a:srgbClr val="F5F5F7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0300" y="7256145"/>
            <a:ext cx="678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F5F5F7"/>
                </a:solidFill>
                <a:latin typeface="Arial"/>
              </a:rPr>
              <a:t>Chunks are 2 MiB aligned, so a cache line is never shared by two writers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9382125"/>
            <a:ext cx="85725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LMCache on CXL · Deployment walkthrough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25800" y="9382125"/>
            <a:ext cx="11430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800" b="0">
                <a:solidFill>
                  <a:srgbClr val="A1A1A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2655</Words>
  <Application>Microsoft Office PowerPoint</Application>
  <PresentationFormat>Custom</PresentationFormat>
  <Paragraphs>441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Alex Seo</cp:lastModifiedBy>
  <cp:revision>7</cp:revision>
  <dcterms:created xsi:type="dcterms:W3CDTF">2013-01-27T09:14:16Z</dcterms:created>
  <dcterms:modified xsi:type="dcterms:W3CDTF">2026-10-27T23:36:48Z</dcterms:modified>
  <cp:category/>
</cp:coreProperties>
</file>